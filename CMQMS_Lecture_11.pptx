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1" r:id="rId1"/>
    <p:sldMasterId id="2147483675" r:id="rId2"/>
  </p:sldMasterIdLst>
  <p:notesMasterIdLst>
    <p:notesMasterId r:id="rId5"/>
  </p:notesMasterIdLst>
  <p:sldIdLst>
    <p:sldId id="256" r:id="rId3"/>
    <p:sldId id="623" r:id="rId4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40C0"/>
    <a:srgbClr val="FF9933"/>
    <a:srgbClr val="67BCAE"/>
    <a:srgbClr val="EAD2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71" autoAdjust="0"/>
    <p:restoredTop sz="82407" autoAdjust="0"/>
  </p:normalViewPr>
  <p:slideViewPr>
    <p:cSldViewPr>
      <p:cViewPr varScale="1">
        <p:scale>
          <a:sx n="95" d="100"/>
          <a:sy n="95" d="100"/>
        </p:scale>
        <p:origin x="2528" y="17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BCEECD-F39C-4D02-890D-AC0AE91B6A27}" type="datetimeFigureOut">
              <a:rPr lang="en-US" smtClean="0"/>
              <a:pPr/>
              <a:t>10/21/25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D8C5A7-0305-4EBC-87F9-6BE751D08921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D8C5A7-0305-4EBC-87F9-6BE751D08921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9144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D8C5A7-0305-4EBC-87F9-6BE751D0892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0693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F0832-F084-422D-97D1-AF848F4F2C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0869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F0832-F084-422D-97D1-AF848F4F2C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2866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F0832-F084-422D-97D1-AF848F4F2C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933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F0832-F084-422D-97D1-AF848F4F2C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7904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F0832-F084-422D-97D1-AF848F4F2C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8114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F0832-F084-422D-97D1-AF848F4F2C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81198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F0832-F084-422D-97D1-AF848F4F2C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91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F0832-F084-422D-97D1-AF848F4F2C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884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F0832-F084-422D-97D1-AF848F4F2C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0350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F0832-F084-422D-97D1-AF848F4F2C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37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F0832-F084-422D-97D1-AF848F4F2C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28572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 cstate="print">
            <a:lum/>
          </a:blip>
          <a:srcRect/>
          <a:stretch>
            <a:fillRect t="-42000" b="4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24166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9144000" cy="1069514"/>
          </a:xfrm>
          <a:prstGeom prst="rect">
            <a:avLst/>
          </a:prstGeom>
        </p:spPr>
        <p:txBody>
          <a:bodyPr anchor="ctr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r>
              <a:rPr lang="en-US" altLang="ko-KR" dirty="0"/>
              <a:t> Click to add title</a:t>
            </a:r>
            <a:endParaRPr lang="ko-KR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60648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altLang="ko-KR" dirty="0"/>
              <a:t>Click to edit Master text styles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0"/>
          </p:nvPr>
        </p:nvSpPr>
        <p:spPr>
          <a:xfrm>
            <a:off x="467544" y="2276872"/>
            <a:ext cx="8229600" cy="3600400"/>
          </a:xfrm>
          <a:prstGeom prst="rect">
            <a:avLst/>
          </a:prstGeom>
        </p:spPr>
        <p:txBody>
          <a:bodyPr lIns="396000" anchor="t"/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altLang="ko-KR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940157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619672" y="0"/>
            <a:ext cx="7524328" cy="1069514"/>
          </a:xfrm>
          <a:prstGeom prst="rect">
            <a:avLst/>
          </a:prstGeom>
        </p:spPr>
        <p:txBody>
          <a:bodyPr anchor="ctr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r>
              <a:rPr lang="en-US" altLang="ko-KR" dirty="0"/>
              <a:t> Click to add title</a:t>
            </a:r>
            <a:endParaRPr lang="ko-KR" alt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2123728" y="1268760"/>
            <a:ext cx="6563072" cy="460648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altLang="ko-KR" dirty="0"/>
              <a:t>Click to edit Master text styles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0"/>
          </p:nvPr>
        </p:nvSpPr>
        <p:spPr>
          <a:xfrm>
            <a:off x="2134072" y="1844824"/>
            <a:ext cx="6563072" cy="4147865"/>
          </a:xfrm>
          <a:prstGeom prst="rect">
            <a:avLst/>
          </a:prstGeom>
        </p:spPr>
        <p:txBody>
          <a:bodyPr lIns="396000" anchor="t"/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altLang="ko-KR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268185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Formatvorlage des Untertitelmasters durch Klicken bearbeiten</a:t>
            </a:r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F0832-F084-422D-97D1-AF848F4F2C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F0832-F084-422D-97D1-AF848F4F2C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F0832-F084-422D-97D1-AF848F4F2C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F0832-F084-422D-97D1-AF848F4F2C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F0832-F084-422D-97D1-AF848F4F2C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F0832-F084-422D-97D1-AF848F4F2C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F0832-F084-422D-97D1-AF848F4F2C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F0832-F084-422D-97D1-AF848F4F2C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F0832-F084-422D-97D1-AF848F4F2C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F0832-F084-422D-97D1-AF848F4F2C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F0832-F084-422D-97D1-AF848F4F2C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 cstate="print">
            <a:lum/>
          </a:blip>
          <a:srcRect/>
          <a:stretch>
            <a:fillRect t="-42000" b="5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241669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0" y="16778"/>
            <a:ext cx="9144000" cy="1069514"/>
          </a:xfrm>
          <a:prstGeom prst="rect">
            <a:avLst/>
          </a:prstGeom>
        </p:spPr>
        <p:txBody>
          <a:bodyPr anchor="ctr"/>
          <a:lstStyle>
            <a:lvl1pPr>
              <a:defRPr lang="ko-KR" altLang="en-US" dirty="0"/>
            </a:lvl1pPr>
          </a:lstStyle>
          <a:p>
            <a:r>
              <a:rPr lang="en-US" altLang="ko-KR" dirty="0"/>
              <a:t> Click to add title</a:t>
            </a:r>
            <a:endParaRPr lang="ko-KR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60648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altLang="ko-KR" dirty="0"/>
              <a:t>Click to edit Master text styles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0"/>
          </p:nvPr>
        </p:nvSpPr>
        <p:spPr>
          <a:xfrm>
            <a:off x="467544" y="2276872"/>
            <a:ext cx="8229600" cy="3600400"/>
          </a:xfrm>
          <a:prstGeom prst="rect">
            <a:avLst/>
          </a:prstGeom>
        </p:spPr>
        <p:txBody>
          <a:bodyPr lIns="396000" anchor="t"/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altLang="ko-KR" dirty="0"/>
              <a:t>Click to edit Master text styles</a:t>
            </a:r>
          </a:p>
        </p:txBody>
      </p:sp>
      <p:sp>
        <p:nvSpPr>
          <p:cNvPr id="5" name="Foliennummernplatzhalter 5">
            <a:extLst>
              <a:ext uri="{FF2B5EF4-FFF2-40B4-BE49-F238E27FC236}">
                <a16:creationId xmlns:a16="http://schemas.microsoft.com/office/drawing/2014/main" id="{570D19B9-2FD6-B229-80B7-A0E05D1E8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1836712" y="6597352"/>
            <a:ext cx="2133600" cy="365125"/>
          </a:xfrm>
        </p:spPr>
        <p:txBody>
          <a:bodyPr/>
          <a:lstStyle/>
          <a:p>
            <a:fld id="{3A2F0832-F084-422D-97D1-AF848F4F2C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4825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7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2F0832-F084-422D-97D1-AF848F4F2C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3573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60" r:id="rId14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2F0832-F084-422D-97D1-AF848F4F2C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04939" y="5635533"/>
            <a:ext cx="8460432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altLang="ko-KR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  <a:cs typeface="Arial" pitchFamily="34" charset="0"/>
            </a:endParaRPr>
          </a:p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sz="16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rPr>
              <a:t>Prof. Dr. Thomas Schäfer</a:t>
            </a:r>
            <a:br>
              <a:rPr kumimoji="0" lang="en-US" altLang="ko-KR" sz="16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rPr>
            </a:b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rPr>
              <a:t>Università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rPr>
              <a:t> 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rPr>
              <a:t>degli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rPr>
              <a:t> 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rPr>
              <a:t>studi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rPr>
              <a:t> di Trieste (UNITS), Winter Semester 2025</a:t>
            </a:r>
          </a:p>
        </p:txBody>
      </p:sp>
      <p:sp>
        <p:nvSpPr>
          <p:cNvPr id="5" name="TextBox 1"/>
          <p:cNvSpPr txBox="1">
            <a:spLocks noChangeArrowheads="1"/>
          </p:cNvSpPr>
          <p:nvPr/>
        </p:nvSpPr>
        <p:spPr bwMode="auto">
          <a:xfrm>
            <a:off x="599575" y="3346581"/>
            <a:ext cx="8392395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r"/>
            <a:r>
              <a:rPr lang="fr-FR" sz="2000" b="1" dirty="0" err="1"/>
              <a:t>Computational</a:t>
            </a:r>
            <a:r>
              <a:rPr lang="fr-FR" sz="2000" b="1" dirty="0"/>
              <a:t> Methods for Quantum </a:t>
            </a:r>
            <a:r>
              <a:rPr lang="fr-FR" sz="2000" b="1" dirty="0" err="1"/>
              <a:t>Many</a:t>
            </a:r>
            <a:r>
              <a:rPr lang="fr-FR" sz="2000" b="1" dirty="0"/>
              <a:t>-Body </a:t>
            </a:r>
            <a:r>
              <a:rPr lang="fr-FR" sz="2000" b="1" dirty="0" err="1"/>
              <a:t>Systems</a:t>
            </a:r>
            <a:r>
              <a:rPr lang="fr-FR" sz="2000" b="1" dirty="0"/>
              <a:t> (CMQMB) -</a:t>
            </a:r>
          </a:p>
          <a:p>
            <a:pPr algn="r"/>
            <a:r>
              <a:rPr lang="fr-FR" sz="2000" b="1" dirty="0" err="1"/>
              <a:t>from</a:t>
            </a:r>
            <a:r>
              <a:rPr lang="fr-FR" sz="2000" b="1" dirty="0"/>
              <a:t> </a:t>
            </a:r>
            <a:r>
              <a:rPr lang="fr-FR" sz="2000" b="1" dirty="0" err="1">
                <a:solidFill>
                  <a:srgbClr val="FF0000"/>
                </a:solidFill>
              </a:rPr>
              <a:t>artificial</a:t>
            </a:r>
            <a:r>
              <a:rPr lang="fr-FR" sz="2000" b="1" dirty="0">
                <a:solidFill>
                  <a:srgbClr val="FF0000"/>
                </a:solidFill>
              </a:rPr>
              <a:t> </a:t>
            </a:r>
            <a:r>
              <a:rPr lang="fr-FR" sz="2000" b="1" dirty="0" err="1">
                <a:solidFill>
                  <a:srgbClr val="FF0000"/>
                </a:solidFill>
              </a:rPr>
              <a:t>atoms</a:t>
            </a:r>
            <a:r>
              <a:rPr lang="fr-FR" sz="2000" b="1" dirty="0">
                <a:solidFill>
                  <a:srgbClr val="FF0000"/>
                </a:solidFill>
              </a:rPr>
              <a:t> </a:t>
            </a:r>
            <a:r>
              <a:rPr lang="fr-FR" sz="2000" b="1" dirty="0"/>
              <a:t>to </a:t>
            </a:r>
            <a:r>
              <a:rPr lang="fr-FR" sz="2000" b="1" dirty="0">
                <a:solidFill>
                  <a:srgbClr val="3240C0"/>
                </a:solidFill>
              </a:rPr>
              <a:t>high-</a:t>
            </a:r>
            <a:r>
              <a:rPr lang="fr-FR" sz="2000" b="1" dirty="0" err="1">
                <a:solidFill>
                  <a:srgbClr val="3240C0"/>
                </a:solidFill>
              </a:rPr>
              <a:t>temperature</a:t>
            </a:r>
            <a:r>
              <a:rPr lang="fr-FR" sz="2000" b="1" dirty="0">
                <a:solidFill>
                  <a:srgbClr val="3240C0"/>
                </a:solidFill>
              </a:rPr>
              <a:t> </a:t>
            </a:r>
            <a:r>
              <a:rPr lang="fr-FR" sz="2000" b="1" dirty="0" err="1">
                <a:solidFill>
                  <a:srgbClr val="3240C0"/>
                </a:solidFill>
              </a:rPr>
              <a:t>superconductors</a:t>
            </a:r>
            <a:endParaRPr lang="fr-FR" sz="2000" b="1" dirty="0">
              <a:solidFill>
                <a:srgbClr val="3240C0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ABCDEA0-20EB-D943-A33B-20ACE40A1BAC}"/>
              </a:ext>
            </a:extLst>
          </p:cNvPr>
          <p:cNvCxnSpPr/>
          <p:nvPr/>
        </p:nvCxnSpPr>
        <p:spPr>
          <a:xfrm>
            <a:off x="531538" y="4125273"/>
            <a:ext cx="8392395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634EB2AA-084B-5758-A53D-3EC700C3FF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62" y="5564447"/>
            <a:ext cx="2844084" cy="100394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850F71C-8BEF-AA42-4904-6BD37E2B9BFE}"/>
              </a:ext>
            </a:extLst>
          </p:cNvPr>
          <p:cNvSpPr txBox="1"/>
          <p:nvPr/>
        </p:nvSpPr>
        <p:spPr>
          <a:xfrm>
            <a:off x="2195736" y="4183962"/>
            <a:ext cx="67281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altLang="ko-KR" sz="1800" b="1" dirty="0">
                <a:solidFill>
                  <a:srgbClr val="3240C0"/>
                </a:solidFill>
                <a:ea typeface="맑은 고딕" pitchFamily="50" charset="-127"/>
                <a:cs typeface="Arial" pitchFamily="34" charset="0"/>
              </a:rPr>
              <a:t>Lecture 11: Electron </a:t>
            </a:r>
            <a:r>
              <a:rPr lang="fr-FR" altLang="ko-KR" sz="1800" b="1" dirty="0" err="1">
                <a:solidFill>
                  <a:srgbClr val="3240C0"/>
                </a:solidFill>
                <a:ea typeface="맑은 고딕" pitchFamily="50" charset="-127"/>
                <a:cs typeface="Arial" pitchFamily="34" charset="0"/>
              </a:rPr>
              <a:t>gase</a:t>
            </a:r>
            <a:r>
              <a:rPr lang="fr-FR" altLang="ko-KR" b="1" dirty="0" err="1">
                <a:solidFill>
                  <a:srgbClr val="3240C0"/>
                </a:solidFill>
                <a:ea typeface="맑은 고딕" pitchFamily="50" charset="-127"/>
                <a:cs typeface="Arial" pitchFamily="34" charset="0"/>
              </a:rPr>
              <a:t>s</a:t>
            </a:r>
            <a:r>
              <a:rPr lang="fr-FR" altLang="ko-KR" b="1" dirty="0">
                <a:solidFill>
                  <a:srgbClr val="3240C0"/>
                </a:solidFill>
                <a:ea typeface="맑은 고딕" pitchFamily="50" charset="-127"/>
                <a:cs typeface="Arial" pitchFamily="34" charset="0"/>
              </a:rPr>
              <a:t> in 3, 2, 1, and 0 (!) dimensions</a:t>
            </a:r>
            <a:endParaRPr lang="en-US" altLang="ko-KR" sz="2800" b="1" dirty="0">
              <a:solidFill>
                <a:srgbClr val="3240C0"/>
              </a:solidFill>
              <a:ea typeface="맑은 고딕" pitchFamily="50" charset="-127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12217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3"/>
          <p:cNvSpPr>
            <a:spLocks noGrp="1"/>
          </p:cNvSpPr>
          <p:nvPr>
            <p:ph type="title"/>
          </p:nvPr>
        </p:nvSpPr>
        <p:spPr>
          <a:xfrm>
            <a:off x="0" y="16778"/>
            <a:ext cx="9144000" cy="1069514"/>
          </a:xfrm>
        </p:spPr>
        <p:txBody>
          <a:bodyPr>
            <a:normAutofit/>
          </a:bodyPr>
          <a:lstStyle/>
          <a:p>
            <a:pPr algn="l"/>
            <a:r>
              <a:rPr lang="en-GB" sz="2400" b="1" dirty="0"/>
              <a:t>Quantum dots: density of states, samples and </a:t>
            </a:r>
            <a:br>
              <a:rPr lang="en-GB" sz="2400" b="1" dirty="0"/>
            </a:br>
            <a:r>
              <a:rPr lang="en-GB" sz="2400" b="1" dirty="0"/>
              <a:t>measurement of the Coulomb blockade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23" name="Titel 3">
            <a:extLst>
              <a:ext uri="{FF2B5EF4-FFF2-40B4-BE49-F238E27FC236}">
                <a16:creationId xmlns:a16="http://schemas.microsoft.com/office/drawing/2014/main" id="{E05100DB-5766-C148-8F5A-667DB4B160B8}"/>
              </a:ext>
            </a:extLst>
          </p:cNvPr>
          <p:cNvSpPr txBox="1">
            <a:spLocks/>
          </p:cNvSpPr>
          <p:nvPr/>
        </p:nvSpPr>
        <p:spPr>
          <a:xfrm>
            <a:off x="827584" y="250473"/>
            <a:ext cx="7776864" cy="7920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lang="ko-KR" altLang="en-US" sz="4400" kern="120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GB" sz="2400" b="1" dirty="0">
              <a:solidFill>
                <a:srgbClr val="FF0000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819D456-0ED1-D020-9B90-DACF80A6AC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0077" y="3988500"/>
            <a:ext cx="3566879" cy="239282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3D930B3-FEF8-6604-E587-932BE4A942CE}"/>
              </a:ext>
            </a:extLst>
          </p:cNvPr>
          <p:cNvSpPr txBox="1"/>
          <p:nvPr/>
        </p:nvSpPr>
        <p:spPr>
          <a:xfrm>
            <a:off x="4932040" y="6420538"/>
            <a:ext cx="43134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i="1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U. </a:t>
            </a:r>
            <a:r>
              <a:rPr lang="en-GB" sz="1200" i="1" dirty="0" err="1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Meirav</a:t>
            </a:r>
            <a:r>
              <a:rPr lang="en-GB" sz="1200" i="1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 M. A. Kastner, and S. Wind, Phys. Rev. Lett. </a:t>
            </a:r>
            <a:r>
              <a:rPr lang="en-GB" sz="1200" b="1" i="1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65</a:t>
            </a:r>
            <a:r>
              <a:rPr lang="en-GB" sz="1200" i="1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 6 (1990)</a:t>
            </a:r>
            <a:endParaRPr lang="en-GB" sz="1200" i="1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1200" i="1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Y. Meir, N. S. </a:t>
            </a:r>
            <a:r>
              <a:rPr lang="en-GB" sz="1200" i="1" dirty="0" err="1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Wingreen</a:t>
            </a:r>
            <a:r>
              <a:rPr lang="en-GB" sz="1200" i="1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, and P. A. Lee, Phys. Rev. Lett. </a:t>
            </a:r>
            <a:r>
              <a:rPr lang="en-GB" sz="1200" b="1" i="1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66</a:t>
            </a:r>
            <a:r>
              <a:rPr lang="en-GB" sz="1200" i="1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, 23 (1991)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67F6A2-367D-482B-6F78-8B8382E2E8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044" y="4238855"/>
            <a:ext cx="4043233" cy="18921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67DB981-91BC-ABB1-719F-64BA9A4CF5B1}"/>
              </a:ext>
            </a:extLst>
          </p:cNvPr>
          <p:cNvSpPr txBox="1"/>
          <p:nvPr/>
        </p:nvSpPr>
        <p:spPr>
          <a:xfrm>
            <a:off x="-15008" y="6581001"/>
            <a:ext cx="29695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i="1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J. A. Folk, et al., Phys. Rev. Lett. </a:t>
            </a:r>
            <a:r>
              <a:rPr lang="en-GB" sz="1200" b="1" i="1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76</a:t>
            </a:r>
            <a:r>
              <a:rPr lang="en-GB" sz="1200" i="1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, 10 (1996)</a:t>
            </a:r>
            <a:endParaRPr lang="en-GB" sz="1200" i="1" dirty="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64EF62-F828-0B7D-A7E0-0A20CC131FCD}"/>
              </a:ext>
            </a:extLst>
          </p:cNvPr>
          <p:cNvSpPr txBox="1"/>
          <p:nvPr/>
        </p:nvSpPr>
        <p:spPr>
          <a:xfrm>
            <a:off x="323802" y="3780064"/>
            <a:ext cx="1145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Schematic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5F4C5A-AAA5-120E-9C77-D0E1FA66183D}"/>
              </a:ext>
            </a:extLst>
          </p:cNvPr>
          <p:cNvSpPr txBox="1"/>
          <p:nvPr/>
        </p:nvSpPr>
        <p:spPr>
          <a:xfrm>
            <a:off x="2609924" y="3749998"/>
            <a:ext cx="19620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STM measurement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B6CF343-816A-C875-A1CB-6F11C74BA15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7500" y="1285144"/>
            <a:ext cx="4749000" cy="2345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110083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12873</TotalTime>
  <Words>147</Words>
  <Application>Microsoft Macintosh PowerPoint</Application>
  <PresentationFormat>On-screen Show (4:3)</PresentationFormat>
  <Paragraphs>13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Custom Design</vt:lpstr>
      <vt:lpstr>Larissa-Design</vt:lpstr>
      <vt:lpstr>PowerPoint Presentation</vt:lpstr>
      <vt:lpstr>Quantum dots: density of states, samples and  measurement of the Coulomb blockade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Registered User</dc:creator>
  <cp:lastModifiedBy>Thomas Schäfer</cp:lastModifiedBy>
  <cp:revision>649</cp:revision>
  <cp:lastPrinted>2021-09-09T16:03:15Z</cp:lastPrinted>
  <dcterms:created xsi:type="dcterms:W3CDTF">2014-04-01T16:35:38Z</dcterms:created>
  <dcterms:modified xsi:type="dcterms:W3CDTF">2025-10-21T09:59:57Z</dcterms:modified>
</cp:coreProperties>
</file>