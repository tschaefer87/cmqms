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1" r:id="rId1"/>
    <p:sldMasterId id="2147483675" r:id="rId2"/>
  </p:sldMasterIdLst>
  <p:notesMasterIdLst>
    <p:notesMasterId r:id="rId7"/>
  </p:notesMasterIdLst>
  <p:sldIdLst>
    <p:sldId id="256" r:id="rId3"/>
    <p:sldId id="457" r:id="rId4"/>
    <p:sldId id="463" r:id="rId5"/>
    <p:sldId id="466" r:id="rId6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240C0"/>
    <a:srgbClr val="FF9933"/>
    <a:srgbClr val="67BCAE"/>
    <a:srgbClr val="EAD2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49" autoAdjust="0"/>
    <p:restoredTop sz="82500" autoAdjust="0"/>
  </p:normalViewPr>
  <p:slideViewPr>
    <p:cSldViewPr>
      <p:cViewPr varScale="1">
        <p:scale>
          <a:sx n="95" d="100"/>
          <a:sy n="95" d="100"/>
        </p:scale>
        <p:origin x="2464" y="1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BCEECD-F39C-4D02-890D-AC0AE91B6A27}" type="datetimeFigureOut">
              <a:rPr lang="en-US" smtClean="0"/>
              <a:pPr/>
              <a:t>10/14/25</a:t>
            </a:fld>
            <a:endParaRPr lang="en-US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D8C5A7-0305-4EBC-87F9-6BE751D0892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D8C5A7-0305-4EBC-87F9-6BE751D08921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9144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D8C5A7-0305-4EBC-87F9-6BE751D08921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3577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D8C5A7-0305-4EBC-87F9-6BE751D08921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036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D8C5A7-0305-4EBC-87F9-6BE751D08921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3792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0869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2866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9332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790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8114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1198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918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884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0350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374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8572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blipFill dpi="0" rotWithShape="1">
          <a:blip r:embed="rId2" cstate="print">
            <a:lum/>
          </a:blip>
          <a:srcRect/>
          <a:stretch>
            <a:fillRect t="-42000" b="4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24166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9144000" cy="1069514"/>
          </a:xfrm>
          <a:prstGeom prst="rect">
            <a:avLst/>
          </a:prstGeom>
        </p:spPr>
        <p:txBody>
          <a:bodyPr anchor="ctr"/>
          <a:lstStyle>
            <a:lvl1pPr>
              <a:defRPr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altLang="ko-KR" dirty="0"/>
              <a:t> Click to add title</a:t>
            </a:r>
            <a:endParaRPr lang="ko-KR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6064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altLang="ko-KR" dirty="0"/>
              <a:t>Click to edit Master text styles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0"/>
          </p:nvPr>
        </p:nvSpPr>
        <p:spPr>
          <a:xfrm>
            <a:off x="467544" y="2276872"/>
            <a:ext cx="8229600" cy="3600400"/>
          </a:xfrm>
          <a:prstGeom prst="rect">
            <a:avLst/>
          </a:prstGeom>
        </p:spPr>
        <p:txBody>
          <a:bodyPr lIns="396000" anchor="t"/>
          <a:lstStyle>
            <a:lvl1pPr marL="0" indent="0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altLang="ko-KR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940157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619672" y="0"/>
            <a:ext cx="7524328" cy="1069514"/>
          </a:xfrm>
          <a:prstGeom prst="rect">
            <a:avLst/>
          </a:prstGeom>
        </p:spPr>
        <p:txBody>
          <a:bodyPr anchor="ctr"/>
          <a:lstStyle>
            <a:lvl1pPr>
              <a:defRPr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altLang="ko-KR" dirty="0"/>
              <a:t> Click to add title</a:t>
            </a:r>
            <a:endParaRPr lang="ko-KR" alt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2123728" y="1268760"/>
            <a:ext cx="6563072" cy="46064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altLang="ko-KR" dirty="0"/>
              <a:t>Click to edit Master text styles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0"/>
          </p:nvPr>
        </p:nvSpPr>
        <p:spPr>
          <a:xfrm>
            <a:off x="2134072" y="1844824"/>
            <a:ext cx="6563072" cy="4147865"/>
          </a:xfrm>
          <a:prstGeom prst="rect">
            <a:avLst/>
          </a:prstGeom>
        </p:spPr>
        <p:txBody>
          <a:bodyPr lIns="396000" anchor="t"/>
          <a:lstStyle>
            <a:lvl1pPr marL="0" indent="0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altLang="ko-KR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268185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Formatvorlage des Untertitelmasters durch Klicken bearbeiten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blipFill dpi="0" rotWithShape="1">
          <a:blip r:embed="rId2" cstate="print">
            <a:lum/>
          </a:blip>
          <a:srcRect/>
          <a:stretch>
            <a:fillRect t="-42000" b="5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241669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16778"/>
            <a:ext cx="9144000" cy="1069514"/>
          </a:xfrm>
          <a:prstGeom prst="rect">
            <a:avLst/>
          </a:prstGeom>
        </p:spPr>
        <p:txBody>
          <a:bodyPr anchor="ctr"/>
          <a:lstStyle>
            <a:lvl1pPr>
              <a:defRPr lang="ko-KR" altLang="en-US" dirty="0"/>
            </a:lvl1pPr>
          </a:lstStyle>
          <a:p>
            <a:r>
              <a:rPr lang="en-US" altLang="ko-KR" dirty="0"/>
              <a:t> Click to add title</a:t>
            </a:r>
            <a:endParaRPr lang="ko-KR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6064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altLang="ko-KR" dirty="0"/>
              <a:t>Click to edit Master text styles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0"/>
          </p:nvPr>
        </p:nvSpPr>
        <p:spPr>
          <a:xfrm>
            <a:off x="467544" y="2276872"/>
            <a:ext cx="8229600" cy="3600400"/>
          </a:xfrm>
          <a:prstGeom prst="rect">
            <a:avLst/>
          </a:prstGeom>
        </p:spPr>
        <p:txBody>
          <a:bodyPr lIns="396000" anchor="t"/>
          <a:lstStyle>
            <a:lvl1pPr marL="0" indent="0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altLang="ko-KR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6213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2F0832-F084-422D-97D1-AF848F4F2C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357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60" r:id="rId14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2F0832-F084-422D-97D1-AF848F4F2C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sdsc-binder.flatironinstitute.org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04939" y="5635533"/>
            <a:ext cx="8460432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altLang="ko-KR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  <a:cs typeface="Arial" pitchFamily="34" charset="0"/>
            </a:endParaRPr>
          </a:p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rPr>
              <a:t>Prof. Dr. Thomas Schäfer</a:t>
            </a:r>
            <a:br>
              <a:rPr kumimoji="0" lang="en-US" altLang="ko-KR" sz="16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rPr>
            </a:b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rPr>
              <a:t>Università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rPr>
              <a:t>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rPr>
              <a:t>degli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rPr>
              <a:t>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rPr>
              <a:t>studi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rPr>
              <a:t> di Trieste (UNITS), Winter Semester 2025</a:t>
            </a:r>
          </a:p>
        </p:txBody>
      </p:sp>
      <p:sp>
        <p:nvSpPr>
          <p:cNvPr id="5" name="TextBox 1"/>
          <p:cNvSpPr txBox="1">
            <a:spLocks noChangeArrowheads="1"/>
          </p:cNvSpPr>
          <p:nvPr/>
        </p:nvSpPr>
        <p:spPr bwMode="auto">
          <a:xfrm>
            <a:off x="599575" y="3346581"/>
            <a:ext cx="8392395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2000" b="1" dirty="0" err="1"/>
              <a:t>Computational</a:t>
            </a:r>
            <a:r>
              <a:rPr lang="fr-FR" sz="2000" b="1" dirty="0"/>
              <a:t> Methods for Quantum </a:t>
            </a:r>
            <a:r>
              <a:rPr lang="fr-FR" sz="2000" b="1" dirty="0" err="1"/>
              <a:t>Many</a:t>
            </a:r>
            <a:r>
              <a:rPr lang="fr-FR" sz="2000" b="1" dirty="0"/>
              <a:t>-Body </a:t>
            </a:r>
            <a:r>
              <a:rPr lang="fr-FR" sz="2000" b="1" dirty="0" err="1"/>
              <a:t>Systems</a:t>
            </a:r>
            <a:r>
              <a:rPr lang="fr-FR" sz="2000" b="1" dirty="0"/>
              <a:t> </a:t>
            </a:r>
            <a:r>
              <a:rPr lang="fr-FR" sz="2000" b="1"/>
              <a:t>(CMQMS) </a:t>
            </a:r>
            <a:r>
              <a:rPr lang="fr-FR" sz="2000" b="1" dirty="0"/>
              <a:t>-</a:t>
            </a:r>
          </a:p>
          <a:p>
            <a:pPr algn="r"/>
            <a:r>
              <a:rPr lang="fr-FR" sz="2000" b="1" dirty="0" err="1"/>
              <a:t>from</a:t>
            </a:r>
            <a:r>
              <a:rPr lang="fr-FR" sz="2000" b="1" dirty="0"/>
              <a:t> </a:t>
            </a:r>
            <a:r>
              <a:rPr lang="fr-FR" sz="2000" b="1" dirty="0" err="1">
                <a:solidFill>
                  <a:srgbClr val="FF0000"/>
                </a:solidFill>
              </a:rPr>
              <a:t>artificial</a:t>
            </a:r>
            <a:r>
              <a:rPr lang="fr-FR" sz="2000" b="1" dirty="0">
                <a:solidFill>
                  <a:srgbClr val="FF0000"/>
                </a:solidFill>
              </a:rPr>
              <a:t> </a:t>
            </a:r>
            <a:r>
              <a:rPr lang="fr-FR" sz="2000" b="1" dirty="0" err="1">
                <a:solidFill>
                  <a:srgbClr val="FF0000"/>
                </a:solidFill>
              </a:rPr>
              <a:t>atoms</a:t>
            </a:r>
            <a:r>
              <a:rPr lang="fr-FR" sz="2000" b="1" dirty="0">
                <a:solidFill>
                  <a:srgbClr val="FF0000"/>
                </a:solidFill>
              </a:rPr>
              <a:t> </a:t>
            </a:r>
            <a:r>
              <a:rPr lang="fr-FR" sz="2000" b="1" dirty="0"/>
              <a:t>to </a:t>
            </a:r>
            <a:r>
              <a:rPr lang="fr-FR" sz="2000" b="1" dirty="0">
                <a:solidFill>
                  <a:srgbClr val="3240C0"/>
                </a:solidFill>
              </a:rPr>
              <a:t>high-</a:t>
            </a:r>
            <a:r>
              <a:rPr lang="fr-FR" sz="2000" b="1" dirty="0" err="1">
                <a:solidFill>
                  <a:srgbClr val="3240C0"/>
                </a:solidFill>
              </a:rPr>
              <a:t>temperature</a:t>
            </a:r>
            <a:r>
              <a:rPr lang="fr-FR" sz="2000" b="1" dirty="0">
                <a:solidFill>
                  <a:srgbClr val="3240C0"/>
                </a:solidFill>
              </a:rPr>
              <a:t> </a:t>
            </a:r>
            <a:r>
              <a:rPr lang="fr-FR" sz="2000" b="1" dirty="0" err="1">
                <a:solidFill>
                  <a:srgbClr val="3240C0"/>
                </a:solidFill>
              </a:rPr>
              <a:t>superconductors</a:t>
            </a:r>
            <a:endParaRPr lang="fr-FR" sz="2000" b="1" dirty="0">
              <a:solidFill>
                <a:srgbClr val="3240C0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ABCDEA0-20EB-D943-A33B-20ACE40A1BAC}"/>
              </a:ext>
            </a:extLst>
          </p:cNvPr>
          <p:cNvCxnSpPr/>
          <p:nvPr/>
        </p:nvCxnSpPr>
        <p:spPr>
          <a:xfrm>
            <a:off x="531538" y="4125273"/>
            <a:ext cx="8392395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634EB2AA-084B-5758-A53D-3EC700C3FF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62" y="5564447"/>
            <a:ext cx="2844084" cy="100394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850F71C-8BEF-AA42-4904-6BD37E2B9BFE}"/>
              </a:ext>
            </a:extLst>
          </p:cNvPr>
          <p:cNvSpPr txBox="1"/>
          <p:nvPr/>
        </p:nvSpPr>
        <p:spPr>
          <a:xfrm>
            <a:off x="755576" y="4183962"/>
            <a:ext cx="81683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altLang="ko-KR" sz="1800" b="1" dirty="0">
                <a:solidFill>
                  <a:srgbClr val="3240C0"/>
                </a:solidFill>
                <a:ea typeface="맑은 고딕" pitchFamily="50" charset="-127"/>
                <a:cs typeface="Arial" pitchFamily="34" charset="0"/>
              </a:rPr>
              <a:t>Lecture 7 – Feynman </a:t>
            </a:r>
            <a:r>
              <a:rPr lang="fr-FR" altLang="ko-KR" sz="1800" b="1" dirty="0" err="1">
                <a:solidFill>
                  <a:srgbClr val="3240C0"/>
                </a:solidFill>
                <a:ea typeface="맑은 고딕" pitchFamily="50" charset="-127"/>
                <a:cs typeface="Arial" pitchFamily="34" charset="0"/>
              </a:rPr>
              <a:t>diagrams</a:t>
            </a:r>
            <a:r>
              <a:rPr lang="fr-FR" altLang="ko-KR" sz="1800" b="1" dirty="0">
                <a:solidFill>
                  <a:srgbClr val="3240C0"/>
                </a:solidFill>
                <a:ea typeface="맑은 고딕" pitchFamily="50" charset="-127"/>
                <a:cs typeface="Arial" pitchFamily="34" charset="0"/>
              </a:rPr>
              <a:t> and perturbation </a:t>
            </a:r>
            <a:r>
              <a:rPr lang="fr-FR" altLang="ko-KR" sz="1800" b="1" dirty="0" err="1">
                <a:solidFill>
                  <a:srgbClr val="3240C0"/>
                </a:solidFill>
                <a:ea typeface="맑은 고딕" pitchFamily="50" charset="-127"/>
                <a:cs typeface="Arial" pitchFamily="34" charset="0"/>
              </a:rPr>
              <a:t>theory</a:t>
            </a:r>
            <a:endParaRPr lang="en-US" altLang="ko-KR" sz="2800" b="1" dirty="0">
              <a:solidFill>
                <a:srgbClr val="3240C0"/>
              </a:solidFill>
              <a:ea typeface="맑은 고딕" pitchFamily="50" charset="-127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12217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3"/>
          <p:cNvSpPr>
            <a:spLocks noGrp="1"/>
          </p:cNvSpPr>
          <p:nvPr>
            <p:ph type="title"/>
          </p:nvPr>
        </p:nvSpPr>
        <p:spPr>
          <a:xfrm>
            <a:off x="0" y="16778"/>
            <a:ext cx="9144000" cy="1069514"/>
          </a:xfrm>
        </p:spPr>
        <p:txBody>
          <a:bodyPr>
            <a:normAutofit/>
          </a:bodyPr>
          <a:lstStyle/>
          <a:p>
            <a:pPr algn="l"/>
            <a:r>
              <a:rPr lang="en-GB" sz="2400" b="1" dirty="0">
                <a:solidFill>
                  <a:srgbClr val="FF0000"/>
                </a:solidFill>
              </a:rPr>
              <a:t>Tutorials</a:t>
            </a:r>
          </a:p>
        </p:txBody>
      </p:sp>
      <p:sp>
        <p:nvSpPr>
          <p:cNvPr id="23" name="Titel 3">
            <a:extLst>
              <a:ext uri="{FF2B5EF4-FFF2-40B4-BE49-F238E27FC236}">
                <a16:creationId xmlns:a16="http://schemas.microsoft.com/office/drawing/2014/main" id="{E05100DB-5766-C148-8F5A-667DB4B160B8}"/>
              </a:ext>
            </a:extLst>
          </p:cNvPr>
          <p:cNvSpPr txBox="1">
            <a:spLocks/>
          </p:cNvSpPr>
          <p:nvPr/>
        </p:nvSpPr>
        <p:spPr>
          <a:xfrm>
            <a:off x="827584" y="44624"/>
            <a:ext cx="7776864" cy="7920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lang="ko-KR" altLang="en-US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GB" sz="2400" b="1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1390D8-8D7E-4D3D-26FB-C7F0D0105CA0}"/>
              </a:ext>
            </a:extLst>
          </p:cNvPr>
          <p:cNvSpPr txBox="1"/>
          <p:nvPr/>
        </p:nvSpPr>
        <p:spPr>
          <a:xfrm>
            <a:off x="363074" y="1375975"/>
            <a:ext cx="417896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dirty="0"/>
              <a:t>Please check, whether you can connect to:</a:t>
            </a:r>
          </a:p>
          <a:p>
            <a:endParaRPr lang="en-DE" dirty="0"/>
          </a:p>
          <a:p>
            <a:r>
              <a:rPr lang="en-GB" dirty="0">
                <a:hlinkClick r:id="rId3"/>
              </a:rPr>
              <a:t>http://sdsc-binder.flatironinstitute.org</a:t>
            </a:r>
            <a:endParaRPr lang="en-DE" dirty="0"/>
          </a:p>
          <a:p>
            <a:r>
              <a:rPr lang="en-GB" dirty="0"/>
              <a:t>Owner: </a:t>
            </a:r>
            <a:r>
              <a:rPr lang="en-GB" dirty="0" err="1"/>
              <a:t>ccq</a:t>
            </a:r>
            <a:endParaRPr lang="en-GB" dirty="0"/>
          </a:p>
          <a:p>
            <a:r>
              <a:rPr lang="en-GB" dirty="0"/>
              <a:t>Project: CMQMS</a:t>
            </a:r>
            <a:endParaRPr lang="en-DE" dirty="0"/>
          </a:p>
        </p:txBody>
      </p:sp>
      <p:pic>
        <p:nvPicPr>
          <p:cNvPr id="6" name="Picture 4" descr="About TRIQS — TRIQS 3.3.1 documentation">
            <a:extLst>
              <a:ext uri="{FF2B5EF4-FFF2-40B4-BE49-F238E27FC236}">
                <a16:creationId xmlns:a16="http://schemas.microsoft.com/office/drawing/2014/main" id="{CB583F33-C7EE-2135-CAD1-A99604B7BC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056" y="1301844"/>
            <a:ext cx="2458120" cy="559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AA41AB8-EFB0-AC78-4103-948E0195367F}"/>
              </a:ext>
            </a:extLst>
          </p:cNvPr>
          <p:cNvSpPr txBox="1"/>
          <p:nvPr/>
        </p:nvSpPr>
        <p:spPr>
          <a:xfrm>
            <a:off x="4542039" y="2077011"/>
            <a:ext cx="45281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i="0" u="none" strike="noStrike" dirty="0">
                <a:solidFill>
                  <a:srgbClr val="404040"/>
                </a:solidFill>
                <a:effectLst/>
                <a:latin typeface="Lato" panose="020F0502020204030203" pitchFamily="34" charset="0"/>
              </a:rPr>
              <a:t>T</a:t>
            </a:r>
            <a:r>
              <a:rPr lang="en-GB" b="0" i="0" u="none" strike="noStrike" dirty="0">
                <a:solidFill>
                  <a:srgbClr val="404040"/>
                </a:solidFill>
                <a:effectLst/>
                <a:latin typeface="Lato" panose="020F0502020204030203" pitchFamily="34" charset="0"/>
              </a:rPr>
              <a:t>oolbox for </a:t>
            </a:r>
            <a:r>
              <a:rPr lang="en-GB" b="1" i="0" u="none" strike="noStrike" dirty="0">
                <a:solidFill>
                  <a:srgbClr val="404040"/>
                </a:solidFill>
                <a:effectLst/>
                <a:latin typeface="Lato" panose="020F0502020204030203" pitchFamily="34" charset="0"/>
              </a:rPr>
              <a:t>R</a:t>
            </a:r>
            <a:r>
              <a:rPr lang="en-GB" b="0" i="0" u="none" strike="noStrike" dirty="0">
                <a:solidFill>
                  <a:srgbClr val="404040"/>
                </a:solidFill>
                <a:effectLst/>
                <a:latin typeface="Lato" panose="020F0502020204030203" pitchFamily="34" charset="0"/>
              </a:rPr>
              <a:t>esearch on </a:t>
            </a:r>
            <a:r>
              <a:rPr lang="en-GB" b="1" i="0" u="none" strike="noStrike" dirty="0">
                <a:solidFill>
                  <a:srgbClr val="404040"/>
                </a:solidFill>
                <a:effectLst/>
                <a:latin typeface="Lato" panose="020F0502020204030203" pitchFamily="34" charset="0"/>
              </a:rPr>
              <a:t>I</a:t>
            </a:r>
            <a:r>
              <a:rPr lang="en-GB" b="0" i="0" u="none" strike="noStrike" dirty="0">
                <a:solidFill>
                  <a:srgbClr val="404040"/>
                </a:solidFill>
                <a:effectLst/>
                <a:latin typeface="Lato" panose="020F0502020204030203" pitchFamily="34" charset="0"/>
              </a:rPr>
              <a:t>nteracting </a:t>
            </a:r>
            <a:br>
              <a:rPr lang="en-GB" b="0" i="0" u="none" strike="noStrike" dirty="0">
                <a:solidFill>
                  <a:srgbClr val="404040"/>
                </a:solidFill>
                <a:effectLst/>
                <a:latin typeface="Lato" panose="020F0502020204030203" pitchFamily="34" charset="0"/>
              </a:rPr>
            </a:br>
            <a:r>
              <a:rPr lang="en-GB" b="1" i="0" u="none" strike="noStrike" dirty="0">
                <a:solidFill>
                  <a:srgbClr val="404040"/>
                </a:solidFill>
                <a:effectLst/>
                <a:latin typeface="Lato" panose="020F0502020204030203" pitchFamily="34" charset="0"/>
              </a:rPr>
              <a:t>Q</a:t>
            </a:r>
            <a:r>
              <a:rPr lang="en-GB" b="0" i="0" u="none" strike="noStrike" dirty="0">
                <a:solidFill>
                  <a:srgbClr val="404040"/>
                </a:solidFill>
                <a:effectLst/>
                <a:latin typeface="Lato" panose="020F0502020204030203" pitchFamily="34" charset="0"/>
              </a:rPr>
              <a:t>uantum </a:t>
            </a:r>
            <a:r>
              <a:rPr lang="en-GB" b="1" i="0" u="none" strike="noStrike" dirty="0">
                <a:solidFill>
                  <a:srgbClr val="404040"/>
                </a:solidFill>
                <a:effectLst/>
                <a:latin typeface="Lato" panose="020F0502020204030203" pitchFamily="34" charset="0"/>
              </a:rPr>
              <a:t>S</a:t>
            </a:r>
            <a:r>
              <a:rPr lang="en-GB" b="0" i="0" u="none" strike="noStrike" dirty="0">
                <a:solidFill>
                  <a:srgbClr val="404040"/>
                </a:solidFill>
                <a:effectLst/>
                <a:latin typeface="Lato" panose="020F0502020204030203" pitchFamily="34" charset="0"/>
              </a:rPr>
              <a:t>ystems</a:t>
            </a:r>
            <a:endParaRPr lang="en-DE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D8C3A73-9240-58A9-3C59-22555F5609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91680" y="3351379"/>
            <a:ext cx="5544616" cy="187786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8D53AFE-C7F9-4989-884E-C36866753BFF}"/>
              </a:ext>
            </a:extLst>
          </p:cNvPr>
          <p:cNvSpPr txBox="1"/>
          <p:nvPr/>
        </p:nvSpPr>
        <p:spPr>
          <a:xfrm>
            <a:off x="2279479" y="5857280"/>
            <a:ext cx="44501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Please do not forget your laptops tomorrow!</a:t>
            </a:r>
            <a:endParaRPr lang="en-DE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1114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3"/>
          <p:cNvSpPr>
            <a:spLocks noGrp="1"/>
          </p:cNvSpPr>
          <p:nvPr>
            <p:ph type="title"/>
          </p:nvPr>
        </p:nvSpPr>
        <p:spPr>
          <a:xfrm>
            <a:off x="0" y="16778"/>
            <a:ext cx="9144000" cy="1069514"/>
          </a:xfrm>
        </p:spPr>
        <p:txBody>
          <a:bodyPr>
            <a:normAutofit/>
          </a:bodyPr>
          <a:lstStyle/>
          <a:p>
            <a:pPr algn="l"/>
            <a:r>
              <a:rPr lang="en-GB" sz="2400" b="1"/>
              <a:t>Lecture 7</a:t>
            </a:r>
            <a:endParaRPr lang="en-GB" sz="2400" b="1" dirty="0">
              <a:solidFill>
                <a:srgbClr val="92D05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29EAA3-36B0-1448-8A80-E3808477DEBA}"/>
              </a:ext>
            </a:extLst>
          </p:cNvPr>
          <p:cNvSpPr txBox="1"/>
          <p:nvPr/>
        </p:nvSpPr>
        <p:spPr>
          <a:xfrm>
            <a:off x="323528" y="1340768"/>
            <a:ext cx="20637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sz="2000" u="sng" dirty="0"/>
              <a:t>Content and goals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91D074D-9274-7368-2D50-2D6C8D988EED}"/>
              </a:ext>
            </a:extLst>
          </p:cNvPr>
          <p:cNvSpPr txBox="1"/>
          <p:nvPr/>
        </p:nvSpPr>
        <p:spPr>
          <a:xfrm>
            <a:off x="611560" y="2022319"/>
            <a:ext cx="83529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dirty="0"/>
              <a:t>Perturbation theory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dirty="0"/>
              <a:t>Feynman diagrams and their categorization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dirty="0"/>
              <a:t>Dyson equation and self-energy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dirty="0"/>
              <a:t>(non-)Fermi liquid form of the self-energy</a:t>
            </a:r>
          </a:p>
        </p:txBody>
      </p:sp>
    </p:spTree>
    <p:extLst>
      <p:ext uri="{BB962C8B-B14F-4D97-AF65-F5344CB8AC3E}">
        <p14:creationId xmlns:p14="http://schemas.microsoft.com/office/powerpoint/2010/main" val="33657552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3"/>
          <p:cNvSpPr>
            <a:spLocks noGrp="1"/>
          </p:cNvSpPr>
          <p:nvPr>
            <p:ph type="title"/>
          </p:nvPr>
        </p:nvSpPr>
        <p:spPr>
          <a:xfrm>
            <a:off x="0" y="16778"/>
            <a:ext cx="9144000" cy="1069514"/>
          </a:xfrm>
        </p:spPr>
        <p:txBody>
          <a:bodyPr>
            <a:normAutofit/>
          </a:bodyPr>
          <a:lstStyle/>
          <a:p>
            <a:pPr algn="l"/>
            <a:r>
              <a:rPr lang="en-GB" sz="2400" b="1" dirty="0">
                <a:solidFill>
                  <a:srgbClr val="92D050"/>
                </a:solidFill>
              </a:rPr>
              <a:t>Feynman diagram quiz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94A3EB-A54B-9209-21ED-0D892BFC7B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667" y="1988840"/>
            <a:ext cx="8672665" cy="3705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32502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13154</TotalTime>
  <Words>113</Words>
  <Application>Microsoft Macintosh PowerPoint</Application>
  <PresentationFormat>On-screen Show (4:3)</PresentationFormat>
  <Paragraphs>24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Lato</vt:lpstr>
      <vt:lpstr>Custom Design</vt:lpstr>
      <vt:lpstr>Larissa-Design</vt:lpstr>
      <vt:lpstr>PowerPoint Presentation</vt:lpstr>
      <vt:lpstr>Tutorials</vt:lpstr>
      <vt:lpstr>Lecture 7</vt:lpstr>
      <vt:lpstr>Feynman diagram quiz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Registered User</dc:creator>
  <cp:lastModifiedBy>Thomas Schäfer</cp:lastModifiedBy>
  <cp:revision>659</cp:revision>
  <cp:lastPrinted>2021-09-09T16:03:15Z</cp:lastPrinted>
  <dcterms:created xsi:type="dcterms:W3CDTF">2014-04-01T16:35:38Z</dcterms:created>
  <dcterms:modified xsi:type="dcterms:W3CDTF">2025-10-14T12:32:21Z</dcterms:modified>
</cp:coreProperties>
</file>