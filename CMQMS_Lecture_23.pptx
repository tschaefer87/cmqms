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</p:sldMasterIdLst>
  <p:notesMasterIdLst>
    <p:notesMasterId r:id="rId5"/>
  </p:notesMasterIdLst>
  <p:sldIdLst>
    <p:sldId id="256" r:id="rId3"/>
    <p:sldId id="52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0C0"/>
    <a:srgbClr val="67BCAE"/>
    <a:srgbClr val="EAD264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2457" autoAdjust="0"/>
  </p:normalViewPr>
  <p:slideViewPr>
    <p:cSldViewPr>
      <p:cViewPr varScale="1">
        <p:scale>
          <a:sx n="95" d="100"/>
          <a:sy n="95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CEECD-F39C-4D02-890D-AC0AE91B6A27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8C5A7-0305-4EBC-87F9-6BE751D0892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1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79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t="-42000" b="4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t="-42000" b="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lang="ko-KR" altLang="en-US" dirty="0"/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348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60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pPr/>
              <a:t>11/24/25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NULL"/><Relationship Id="rId5" Type="http://schemas.openxmlformats.org/officeDocument/2006/relationships/image" Target="../media/image5.png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AC4868-744A-66A1-4934-61046A74253D}"/>
              </a:ext>
            </a:extLst>
          </p:cNvPr>
          <p:cNvSpPr txBox="1"/>
          <p:nvPr/>
        </p:nvSpPr>
        <p:spPr>
          <a:xfrm>
            <a:off x="500706" y="5506463"/>
            <a:ext cx="84604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Prof. Dr. Thomas Schäfer</a:t>
            </a:r>
            <a:br>
              <a:rPr kumimoji="0" lang="en-US" altLang="ko-KR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</a:b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Università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degli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studi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di Trieste 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UniTS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), Winter Semester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72BFFC-6F3F-1E3C-BE8E-A758F1762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62" y="5435377"/>
            <a:ext cx="2844084" cy="1003946"/>
          </a:xfrm>
          <a:prstGeom prst="rect">
            <a:avLst/>
          </a:prstGeom>
        </p:spPr>
      </p:pic>
      <p:sp>
        <p:nvSpPr>
          <p:cNvPr id="18" name="TextBox 1">
            <a:extLst>
              <a:ext uri="{FF2B5EF4-FFF2-40B4-BE49-F238E27FC236}">
                <a16:creationId xmlns:a16="http://schemas.microsoft.com/office/drawing/2014/main" id="{36CF405F-4AF1-056B-9BA2-BCEDEB05A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75" y="3346581"/>
            <a:ext cx="83923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2000" b="1" dirty="0" err="1"/>
              <a:t>Computational</a:t>
            </a:r>
            <a:r>
              <a:rPr lang="fr-FR" sz="2000" b="1" dirty="0"/>
              <a:t> Methods for Quantum </a:t>
            </a:r>
            <a:r>
              <a:rPr lang="fr-FR" sz="2000" b="1" dirty="0" err="1"/>
              <a:t>Many</a:t>
            </a:r>
            <a:r>
              <a:rPr lang="fr-FR" sz="2000" b="1" dirty="0"/>
              <a:t>-Body </a:t>
            </a:r>
            <a:r>
              <a:rPr lang="fr-FR" sz="2000" b="1" dirty="0" err="1"/>
              <a:t>Systems</a:t>
            </a:r>
            <a:r>
              <a:rPr lang="fr-FR" sz="2000" b="1" dirty="0"/>
              <a:t> (CMQMS) -</a:t>
            </a:r>
          </a:p>
          <a:p>
            <a:pPr algn="r"/>
            <a:r>
              <a:rPr lang="fr-FR" sz="2000" b="1" dirty="0" err="1"/>
              <a:t>from</a:t>
            </a:r>
            <a:r>
              <a:rPr lang="fr-FR" sz="2000" b="1" dirty="0"/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artificial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atoms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/>
              <a:t>to </a:t>
            </a:r>
            <a:r>
              <a:rPr lang="fr-FR" sz="2000" b="1" dirty="0">
                <a:solidFill>
                  <a:srgbClr val="3240C0"/>
                </a:solidFill>
              </a:rPr>
              <a:t>high-</a:t>
            </a:r>
            <a:r>
              <a:rPr lang="fr-FR" sz="2000" b="1" dirty="0" err="1">
                <a:solidFill>
                  <a:srgbClr val="3240C0"/>
                </a:solidFill>
              </a:rPr>
              <a:t>temperature</a:t>
            </a:r>
            <a:r>
              <a:rPr lang="fr-FR" sz="2000" b="1" dirty="0">
                <a:solidFill>
                  <a:srgbClr val="3240C0"/>
                </a:solidFill>
              </a:rPr>
              <a:t> </a:t>
            </a:r>
            <a:r>
              <a:rPr lang="fr-FR" sz="2000" b="1" dirty="0" err="1">
                <a:solidFill>
                  <a:srgbClr val="3240C0"/>
                </a:solidFill>
              </a:rPr>
              <a:t>superconductors</a:t>
            </a:r>
            <a:endParaRPr lang="fr-FR" sz="2000" b="1" dirty="0">
              <a:solidFill>
                <a:srgbClr val="3240C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BF37B7-A541-19EC-2418-25AD9BDAA154}"/>
              </a:ext>
            </a:extLst>
          </p:cNvPr>
          <p:cNvCxnSpPr/>
          <p:nvPr/>
        </p:nvCxnSpPr>
        <p:spPr>
          <a:xfrm>
            <a:off x="531538" y="4125273"/>
            <a:ext cx="839239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CC33F04-1ECD-3B9F-A224-8D9FA26EB548}"/>
              </a:ext>
            </a:extLst>
          </p:cNvPr>
          <p:cNvSpPr txBox="1"/>
          <p:nvPr/>
        </p:nvSpPr>
        <p:spPr>
          <a:xfrm>
            <a:off x="-252536" y="4183962"/>
            <a:ext cx="9176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altLang="ko-KR" sz="1800" b="1" dirty="0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Lecture 23 – </a:t>
            </a:r>
            <a:r>
              <a:rPr lang="fr-FR" altLang="ko-KR" sz="1800" b="1" dirty="0" err="1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Random</a:t>
            </a:r>
            <a:r>
              <a:rPr lang="fr-FR" altLang="ko-KR" sz="1800" b="1" dirty="0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 Phase Approximation</a:t>
            </a:r>
          </a:p>
          <a:p>
            <a:pPr algn="r"/>
            <a:endParaRPr lang="fr-FR" altLang="ko-KR" sz="1800" b="1" dirty="0">
              <a:solidFill>
                <a:srgbClr val="3240C0"/>
              </a:solidFill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/>
          <p:cNvSpPr>
            <a:spLocks noGrp="1"/>
          </p:cNvSpPr>
          <p:nvPr>
            <p:ph type="title"/>
          </p:nvPr>
        </p:nvSpPr>
        <p:spPr>
          <a:xfrm>
            <a:off x="0" y="9828"/>
            <a:ext cx="9144000" cy="1069514"/>
          </a:xfrm>
        </p:spPr>
        <p:txBody>
          <a:bodyPr>
            <a:normAutofit/>
          </a:bodyPr>
          <a:lstStyle/>
          <a:p>
            <a:pPr algn="l"/>
            <a:r>
              <a:rPr lang="en-GB" sz="2400" b="1" dirty="0">
                <a:solidFill>
                  <a:srgbClr val="410DFF"/>
                </a:solidFill>
              </a:rPr>
              <a:t>Random phase approximation for </a:t>
            </a:r>
            <a:r>
              <a:rPr lang="en-GB" sz="2400" b="1" dirty="0">
                <a:solidFill>
                  <a:srgbClr val="FF0000"/>
                </a:solidFill>
              </a:rPr>
              <a:t>the Hubbard model</a:t>
            </a:r>
            <a:endParaRPr lang="en-GB" sz="2400" b="1" dirty="0">
              <a:solidFill>
                <a:srgbClr val="410DFF"/>
              </a:solidFill>
            </a:endParaRPr>
          </a:p>
        </p:txBody>
      </p:sp>
      <p:sp>
        <p:nvSpPr>
          <p:cNvPr id="23" name="Titel 3">
            <a:extLst>
              <a:ext uri="{FF2B5EF4-FFF2-40B4-BE49-F238E27FC236}">
                <a16:creationId xmlns:a16="http://schemas.microsoft.com/office/drawing/2014/main" id="{E05100DB-5766-C148-8F5A-667DB4B160B8}"/>
              </a:ext>
            </a:extLst>
          </p:cNvPr>
          <p:cNvSpPr txBox="1">
            <a:spLocks/>
          </p:cNvSpPr>
          <p:nvPr/>
        </p:nvSpPr>
        <p:spPr>
          <a:xfrm>
            <a:off x="827584" y="44624"/>
            <a:ext cx="77768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ko-KR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9A644B-F09A-498B-51A8-AB369445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6512" y="6592267"/>
            <a:ext cx="5760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2F0832-F084-422D-97D1-AF848F4F2C34}" type="slidenum">
              <a:rPr lang="en-US" smtClean="0"/>
              <a:pPr/>
              <a:t>2</a:t>
            </a:fld>
            <a:r>
              <a:rPr lang="en-US"/>
              <a:t>/31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8305FB-AD7D-4B07-F41A-CE5E700C8CB3}"/>
                  </a:ext>
                </a:extLst>
              </p:cNvPr>
              <p:cNvSpPr txBox="1"/>
              <p:nvPr/>
            </p:nvSpPr>
            <p:spPr>
              <a:xfrm>
                <a:off x="395408" y="1258347"/>
                <a:ext cx="7810921" cy="432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Superconductivity: linearized gap equation has a solution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≥1: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8305FB-AD7D-4B07-F41A-CE5E700C8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08" y="1258347"/>
                <a:ext cx="7810921" cy="432554"/>
              </a:xfrm>
              <a:prstGeom prst="rect">
                <a:avLst/>
              </a:prstGeom>
              <a:blipFill>
                <a:blip r:embed="rId3"/>
                <a:stretch>
                  <a:fillRect l="-812" b="-2285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CA7813E-BF10-D5A7-9807-34B4101A2961}"/>
              </a:ext>
            </a:extLst>
          </p:cNvPr>
          <p:cNvSpPr txBox="1"/>
          <p:nvPr/>
        </p:nvSpPr>
        <p:spPr>
          <a:xfrm>
            <a:off x="5404421" y="6519446"/>
            <a:ext cx="3701333" cy="33855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r"/>
            <a:r>
              <a:rPr lang="en-US" sz="1100" i="1" dirty="0"/>
              <a:t>A. </a:t>
            </a:r>
            <a:r>
              <a:rPr lang="en-US" sz="1100" i="1" dirty="0" err="1"/>
              <a:t>Kreisel</a:t>
            </a:r>
            <a:r>
              <a:rPr lang="en-US" sz="1100" i="1" dirty="0"/>
              <a:t>, et al., J. </a:t>
            </a:r>
            <a:r>
              <a:rPr lang="en-US" sz="1100" i="1" dirty="0" err="1"/>
              <a:t>Supercond</a:t>
            </a:r>
            <a:r>
              <a:rPr lang="en-US" sz="1100" i="1" dirty="0"/>
              <a:t>. Nov. </a:t>
            </a:r>
            <a:r>
              <a:rPr lang="en-US" sz="1100" i="1" dirty="0" err="1"/>
              <a:t>Magn</a:t>
            </a:r>
            <a:r>
              <a:rPr lang="en-US" sz="1100" i="1" dirty="0"/>
              <a:t>. </a:t>
            </a:r>
            <a:r>
              <a:rPr lang="en-US" sz="1100" b="1" i="1" dirty="0"/>
              <a:t>30</a:t>
            </a:r>
            <a:r>
              <a:rPr lang="en-US" sz="1100" i="1" dirty="0"/>
              <a:t>, 85-89 (2017) </a:t>
            </a:r>
          </a:p>
          <a:p>
            <a:pPr algn="r"/>
            <a:r>
              <a:rPr lang="en-US" sz="1100" i="1" dirty="0"/>
              <a:t>see also A. T. </a:t>
            </a:r>
            <a:r>
              <a:rPr lang="en-US" sz="1100" i="1" dirty="0" err="1"/>
              <a:t>Rømer</a:t>
            </a:r>
            <a:r>
              <a:rPr lang="en-US" sz="1100" i="1" dirty="0"/>
              <a:t>, et al., Phys. Rev. Research </a:t>
            </a:r>
            <a:r>
              <a:rPr lang="en-US" sz="1100" b="1" i="1" dirty="0"/>
              <a:t>2</a:t>
            </a:r>
            <a:r>
              <a:rPr lang="en-US" sz="1100" i="1" dirty="0"/>
              <a:t>, 013108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0C829F-4F36-2EBE-3BB4-7D0BB600F6B8}"/>
                  </a:ext>
                </a:extLst>
              </p:cNvPr>
              <p:cNvSpPr txBox="1"/>
              <p:nvPr/>
            </p:nvSpPr>
            <p:spPr>
              <a:xfrm>
                <a:off x="395408" y="2456174"/>
                <a:ext cx="85730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Leading instabilities in RPA as a function of filling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dirty="0"/>
                  <a:t> and next-nearest neighbor hopping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DE" dirty="0"/>
                  <a:t>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0C829F-4F36-2EBE-3BB4-7D0BB600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08" y="2456174"/>
                <a:ext cx="8573053" cy="369332"/>
              </a:xfrm>
              <a:prstGeom prst="rect">
                <a:avLst/>
              </a:prstGeom>
              <a:blipFill>
                <a:blip r:embed="rId4"/>
                <a:stretch>
                  <a:fillRect l="-740" t="-6667" b="-2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3937495-F517-D4EE-B346-9B114B095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77" y="2946466"/>
            <a:ext cx="5830416" cy="3605908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62CABC-5CC5-3604-8B07-1FC16813B82A}"/>
              </a:ext>
            </a:extLst>
          </p:cNvPr>
          <p:cNvCxnSpPr/>
          <p:nvPr/>
        </p:nvCxnSpPr>
        <p:spPr>
          <a:xfrm flipH="1">
            <a:off x="3347864" y="3861048"/>
            <a:ext cx="3456384" cy="122413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F1C5962-B576-ED25-3CA9-4D06A295007F}"/>
              </a:ext>
            </a:extLst>
          </p:cNvPr>
          <p:cNvSpPr txBox="1"/>
          <p:nvPr/>
        </p:nvSpPr>
        <p:spPr>
          <a:xfrm>
            <a:off x="6894164" y="3089319"/>
            <a:ext cx="18864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</a:t>
            </a:r>
            <a:r>
              <a:rPr lang="en-DE" dirty="0"/>
              <a:t>arge area around</a:t>
            </a:r>
          </a:p>
          <a:p>
            <a:r>
              <a:rPr lang="en-GB" dirty="0"/>
              <a:t>h</a:t>
            </a:r>
            <a:r>
              <a:rPr lang="en-DE" dirty="0"/>
              <a:t>alf-filling with</a:t>
            </a:r>
          </a:p>
          <a:p>
            <a:r>
              <a:rPr lang="en-DE" dirty="0"/>
              <a:t>d-wave symmetry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756920-894B-C862-EE0F-6E9AAA731DAD}"/>
                  </a:ext>
                </a:extLst>
              </p:cNvPr>
              <p:cNvSpPr txBox="1"/>
              <p:nvPr/>
            </p:nvSpPr>
            <p:spPr>
              <a:xfrm>
                <a:off x="2644581" y="1769527"/>
                <a:ext cx="3196901" cy="63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𝑝𝑝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DE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756920-894B-C862-EE0F-6E9AAA73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581" y="1769527"/>
                <a:ext cx="3196901" cy="633122"/>
              </a:xfrm>
              <a:prstGeom prst="rect">
                <a:avLst/>
              </a:prstGeom>
              <a:blipFill>
                <a:blip r:embed="rId6"/>
                <a:stretch>
                  <a:fillRect t="-139216" r="-397" b="-188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76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2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14442</TotalTime>
  <Words>143</Words>
  <Application>Microsoft Macintosh PowerPoint</Application>
  <PresentationFormat>On-screen Show (4:3)</PresentationFormat>
  <Paragraphs>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 Math</vt:lpstr>
      <vt:lpstr>Custom Design</vt:lpstr>
      <vt:lpstr>Larissa-Design</vt:lpstr>
      <vt:lpstr>PowerPoint Presentation</vt:lpstr>
      <vt:lpstr>Random phase approximation for the Hubbard model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Thomas Schäfer</cp:lastModifiedBy>
  <cp:revision>622</cp:revision>
  <cp:lastPrinted>2022-05-06T13:07:43Z</cp:lastPrinted>
  <dcterms:created xsi:type="dcterms:W3CDTF">2014-04-01T16:35:38Z</dcterms:created>
  <dcterms:modified xsi:type="dcterms:W3CDTF">2025-11-24T16:11:44Z</dcterms:modified>
</cp:coreProperties>
</file>